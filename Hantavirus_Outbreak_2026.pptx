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7A94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7A94B8"/>
                </a:solidFill>
                <a:latin typeface="Arial"/>
              </a:rPr>
              <a:t>CFR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CFR %</c:v>
                </c:pt>
              </c:strCache>
            </c:strRef>
          </c:tx>
          <c:spPr>
            <a:solidFill>
              <a:srgbClr val="FF2D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0F6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2D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2D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B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Andes</c:v>
                  </c:pt>
                  <c:pt idx="1">
                    <c:v>Sin Nombre</c:v>
                  </c:pt>
                  <c:pt idx="2">
                    <c:v>Hantaan</c:v>
                  </c:pt>
                  <c:pt idx="3">
                    <c:v>Seoul</c:v>
                  </c:pt>
                  <c:pt idx="4">
                    <c:v>Puumala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</c:v>
                </c:pt>
                <c:pt idx="1">
                  <c:v>38</c:v>
                </c:pt>
                <c:pt idx="2">
                  <c:v>10</c:v>
                </c:pt>
                <c:pt idx="3">
                  <c:v>3</c:v>
                </c:pt>
                <c:pt idx="4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0F6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50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E38"/>
        </a:solidFill>
        <a:ln>
          <a:noFill/>
        </a:ln>
        <a:effectLst/>
      </c:spPr>
    </c:plotArea>
    <c:plotVisOnly val="1"/>
    <c:dispBlanksAs val="span"/>
  </c:chart>
  <c:spPr>
    <a:solidFill>
      <a:srgbClr val="131E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Pt>
            <c:idx val="4"/>
            <c:bubble3D val="0"/>
            <c:spPr>
              <a:solidFill>
                <a:srgbClr val="B291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Europe</c:v>
                </c:pt>
                <c:pt idx="1">
                  <c:v>Africa</c:v>
                </c:pt>
                <c:pt idx="2">
                  <c:v>N. America</c:v>
                </c:pt>
                <c:pt idx="3">
                  <c:v>S. America</c:v>
                </c:pt>
                <c:pt idx="4">
                  <c:v>Asia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CFR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Andes Virus 2026</c:v>
                  </c:pt>
                  <c:pt idx="1">
                    <c:v>Ebola (avg)</c:v>
                  </c:pt>
                  <c:pt idx="2">
                    <c:v>Rabies (untreated)</c:v>
                  </c:pt>
                  <c:pt idx="3">
                    <c:v>SARS (2003)</c:v>
                  </c:pt>
                  <c:pt idx="4">
                    <c:v>COVID-19 (avg)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</c:v>
                </c:pt>
                <c:pt idx="1">
                  <c:v>50</c:v>
                </c:pt>
                <c:pt idx="2">
                  <c:v>99</c:v>
                </c:pt>
                <c:pt idx="3">
                  <c:v>9.6</c:v>
                </c:pt>
                <c:pt idx="4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03520" cy="640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200400"/>
            <a:ext cx="3657600" cy="3657600"/>
          </a:xfrm>
          <a:prstGeom prst="ellipse">
            <a:avLst/>
          </a:prstGeom>
          <a:solidFill>
            <a:srgbClr val="FF2D55">
              <a:alpha val="10000"/>
            </a:srgbClr>
          </a:solidFill>
          <a:ln w="12700">
            <a:solidFill>
              <a:srgbClr val="FF2D5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474720"/>
            <a:ext cx="2926080" cy="2926080"/>
          </a:xfrm>
          <a:prstGeom prst="ellipse">
            <a:avLst/>
          </a:prstGeom>
          <a:solidFill>
            <a:srgbClr val="080D1A"/>
          </a:solidFill>
          <a:ln w="12700">
            <a:solidFill>
              <a:srgbClr val="FF2D55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486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spc="4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VIRUS  |  GLOBAL OUTBREAK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spc="1000" kern="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2 0 2 6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4389120" cy="0"/>
          </a:xfrm>
          <a:prstGeom prst="line">
            <a:avLst/>
          </a:prstGeom>
          <a:noFill/>
          <a:ln w="12700">
            <a:solidFill>
              <a:srgbClr val="3A50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Outbreak Analysis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Biotechnology Engineering  |  2nd Year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WHO  ·  CDC  ·  UK-HSA  ·  BMJ  ·  May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320040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320040"/>
            <a:ext cx="169164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1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 RATE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2120" y="640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42632" y="320040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42632" y="320040"/>
            <a:ext cx="169164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2632" y="4114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42632" y="640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532120" y="1892808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1892808"/>
            <a:ext cx="169164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984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2120" y="2212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42632" y="1892808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42632" y="1892808"/>
            <a:ext cx="1691640" cy="5486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42632" y="19842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42632" y="2212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532120" y="3465576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3465576"/>
            <a:ext cx="169164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35570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ACTIVE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32120" y="37856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342632" y="3465576"/>
            <a:ext cx="1691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42632" y="3465576"/>
            <a:ext cx="1691640" cy="54864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35570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42632" y="37856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394960" y="4617720"/>
            <a:ext cx="3657600" cy="4572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13248" y="46177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ONLY hantavirus with human-to-human transmission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Hantavirus?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120640" cy="14173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141732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Hantaviruses are RNA viruses from the family Hantaviridae, naturally hosted by rodents. They cause two major human diseases: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HPS</a:t>
            </a:r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Hantavirus Pulmonary Syndrome (attacks lungs)</a:t>
            </a:r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HFRS</a:t>
            </a:r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Hemorrhagic Fever with Renal Syndrome (attacks kidneys)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5120640" cy="118872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97480"/>
            <a:ext cx="64008" cy="1188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TRANSMISSION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Inhaling aerosolized rodent urine, feces, or saliva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Direct contact with infected rodent or its nest material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Andes Virus ONLY: also human-to-human via respiratory droplets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143000"/>
            <a:ext cx="3017520" cy="11430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143000"/>
            <a:ext cx="64008" cy="11430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Rodent-Borne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strain linked to one specific rodent species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441448"/>
            <a:ext cx="3017520" cy="11430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0" y="2441448"/>
            <a:ext cx="64008" cy="114300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487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Virus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28529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Hantaviridae family — single-stranded RNA genome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3739896"/>
            <a:ext cx="3017520" cy="11430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3739896"/>
            <a:ext cx="64008" cy="11430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7856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37960" y="3813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CFR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41513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Virus: 35–50% fatality — no vaccine exists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WHO, CDC, BMJ  |  Hantavirus Pulmonary Syndrome — Global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ORIGIN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2026 Outbreak Start?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Index Case visited a municipal waste landfill in Ushuaia, Argentina — a high-density rodent habitat. Inhalation of aerosolized Andes Virus particles from infected rodent excreta caused infection. The passenger then boarded the Dutch cruise ship MV Hondius on 1 April 2026, triggering an unprecedented multi-country cluster.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TIMELINE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2944368"/>
            <a:ext cx="8138160" cy="0"/>
          </a:xfrm>
          <a:prstGeom prst="line">
            <a:avLst/>
          </a:prstGeom>
          <a:noFill/>
          <a:ln w="19050">
            <a:solidFill>
              <a:srgbClr val="3A5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816352"/>
            <a:ext cx="256032" cy="256032"/>
          </a:xfrm>
          <a:prstGeom prst="ellipse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Hondius departs Ushuaia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84832" y="2816352"/>
            <a:ext cx="256032" cy="25603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Apr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illness onset — fever &amp; GI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02152" y="2816352"/>
            <a:ext cx="256032" cy="256032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Apr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5468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dies — Johannesburg 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19472" y="2816352"/>
            <a:ext cx="256032" cy="256032"/>
          </a:xfrm>
          <a:prstGeom prst="ellipse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officially notified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36792" y="2816352"/>
            <a:ext cx="256032" cy="256032"/>
          </a:xfrm>
          <a:prstGeom prst="ellipse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May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Virus confirmed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54112" y="2816352"/>
            <a:ext cx="256032" cy="256032"/>
          </a:xfrm>
          <a:prstGeom prst="ellipse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3154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&amp; France confirm cases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697480" cy="86868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023360"/>
            <a:ext cx="26974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rodent habitat — Ushuaia, Argentina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46120" y="4023360"/>
            <a:ext cx="2697480" cy="86868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4023360"/>
            <a:ext cx="26974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74904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Ship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55848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Hondius (Dutch-flagged) — 01 April 2026 departure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4023360"/>
            <a:ext cx="2697480" cy="86868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4023360"/>
            <a:ext cx="269748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40965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cruise ship hantavirus cluster in recorded history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Disease Outbreak News — DON599,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Andes Virus Uniquely Dangerous?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377440" cy="2148840"/>
          </a:xfrm>
          <a:prstGeom prst="rect">
            <a:avLst/>
          </a:prstGeom>
          <a:solidFill>
            <a:srgbClr val="C0143A"/>
          </a:solidFill>
          <a:ln w="12700">
            <a:solidFill>
              <a:srgbClr val="C01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377440" cy="640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many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stage-4 cancers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VACCINE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ANTIVIRAL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143000"/>
            <a:ext cx="2926080" cy="13716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1143000"/>
            <a:ext cx="64008" cy="13716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39312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Human-to-Human Spread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ANDV is the ONLY hantavirus capable of direct human-to-human transmission via respiratory droplets — all other strains require rodent contact.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926080" cy="13716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143000"/>
            <a:ext cx="64008" cy="13716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48272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the Lungs Fast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6459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ARDS (Acute Respiratory Distress Syndrome) onset within 2–4 days of cardiopulmonary phase. Fluid floods the lungs — often fatal without ECMO.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2679192"/>
            <a:ext cx="2926080" cy="13716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2679192"/>
            <a:ext cx="64008" cy="13716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39312" y="2770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Targeted Treatment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90672" y="31821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Ribavirin shows limited efficacy. Treatment is ICU supportive care only: ventilator + ECMO (extracorporeal membrane oxygenation). 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679192"/>
            <a:ext cx="2926080" cy="13716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679192"/>
            <a:ext cx="64008" cy="137160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48272" y="2770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Incubation: 1–8 Weeks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9632" y="31821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silent incubation lets infected people travel internationally before symptoms appear — making containment extremely difficult.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74980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291840"/>
            <a:ext cx="64008" cy="7498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35584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TREATMENT PROTOCOL:   ICU supportive care  →  Mechanical ventilation  →  ECMO (last resort)  →  Experimental antivirals under trial. No licensed vaccine. No specific drug approved globally.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 CDC HAN Advisory — HAN00528, May 2026  |  BMJ 2026;393:s919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 Strain Comparison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3474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1051560"/>
            <a:ext cx="1645920" cy="347472"/>
          </a:xfrm>
          <a:prstGeom prst="rect">
            <a:avLst/>
          </a:prstGeom>
          <a:solidFill>
            <a:srgbClr val="C0143A"/>
          </a:solidFill>
          <a:ln w="12700">
            <a:solidFill>
              <a:srgbClr val="C01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1051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Virus ⚡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1051560"/>
            <a:ext cx="1371600" cy="3474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6784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Nombre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1051560"/>
            <a:ext cx="1280160" cy="3474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Puumala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1051560"/>
            <a:ext cx="1280160" cy="3474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01000" y="1051560"/>
            <a:ext cx="1280160" cy="3474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5864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Hantaan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1463040"/>
            <a:ext cx="192024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463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Region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40280" y="1463040"/>
            <a:ext cx="1645920" cy="475488"/>
          </a:xfrm>
          <a:prstGeom prst="rect">
            <a:avLst/>
          </a:prstGeom>
          <a:solidFill>
            <a:srgbClr val="1A0A12"/>
          </a:solidFill>
          <a:ln w="12700">
            <a:solidFill>
              <a:srgbClr val="1A0A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5144" y="14630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America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31920" y="1463040"/>
            <a:ext cx="137160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1463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America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1463040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04104" y="1463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463040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1463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1000" y="1463040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55864" y="14630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975104"/>
            <a:ext cx="192024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19751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40280" y="1975104"/>
            <a:ext cx="1645920" cy="475488"/>
          </a:xfrm>
          <a:prstGeom prst="rect">
            <a:avLst/>
          </a:prstGeom>
          <a:solidFill>
            <a:srgbClr val="200D18"/>
          </a:solidFill>
          <a:ln w="12700">
            <a:solidFill>
              <a:srgbClr val="200D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95144" y="19751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– 50% ☠️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1975104"/>
            <a:ext cx="137160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6784" y="19751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49240" y="1975104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04104" y="19751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1975104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19751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01000" y="1975104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55864" y="197510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487168"/>
            <a:ext cx="192024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24871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Human-to-Human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40280" y="2487168"/>
            <a:ext cx="1645920" cy="475488"/>
          </a:xfrm>
          <a:prstGeom prst="rect">
            <a:avLst/>
          </a:prstGeom>
          <a:solidFill>
            <a:srgbClr val="1A0A12"/>
          </a:solidFill>
          <a:ln w="12700">
            <a:solidFill>
              <a:srgbClr val="1A0A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95144" y="24871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(UNIQUE!)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31920" y="2487168"/>
            <a:ext cx="137160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86784" y="24871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49240" y="2487168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24871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75120" y="2487168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9984" y="24871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01000" y="2487168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55864" y="24871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2999232"/>
            <a:ext cx="192024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Available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40280" y="2999232"/>
            <a:ext cx="1645920" cy="475488"/>
          </a:xfrm>
          <a:prstGeom prst="rect">
            <a:avLst/>
          </a:prstGeom>
          <a:solidFill>
            <a:srgbClr val="200D18"/>
          </a:solidFill>
          <a:ln w="12700">
            <a:solidFill>
              <a:srgbClr val="200D1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95144" y="299923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931920" y="2999232"/>
            <a:ext cx="137160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86784" y="29992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9240" y="2999232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04104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675120" y="2999232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29984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001000" y="2999232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55864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China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511296"/>
            <a:ext cx="192024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35112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2026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40280" y="3511296"/>
            <a:ext cx="1645920" cy="475488"/>
          </a:xfrm>
          <a:prstGeom prst="rect">
            <a:avLst/>
          </a:prstGeom>
          <a:solidFill>
            <a:srgbClr val="1A0A12"/>
          </a:solidFill>
          <a:ln w="12700">
            <a:solidFill>
              <a:srgbClr val="1A0A1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95144" y="35112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CONFIRMED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931920" y="3511296"/>
            <a:ext cx="137160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86784" y="35112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349240" y="3511296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04104" y="35112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675120" y="3511296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729984" y="35112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01000" y="3511296"/>
            <a:ext cx="1280160" cy="4754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55864" y="35112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92024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9184" y="4023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40280" y="4023360"/>
            <a:ext cx="1645920" cy="475488"/>
          </a:xfrm>
          <a:prstGeom prst="rect">
            <a:avLst/>
          </a:prstGeom>
          <a:solidFill>
            <a:srgbClr val="200D18"/>
          </a:solidFill>
          <a:ln w="12700">
            <a:solidFill>
              <a:srgbClr val="200D1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95144" y="40233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+ ECMO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931920" y="4023360"/>
            <a:ext cx="137160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986784" y="4023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only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349240" y="4023360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04104" y="4023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only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675120" y="4023360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729984" y="4023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only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001000" y="4023360"/>
            <a:ext cx="1280160" cy="475488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55864" y="4023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Ribavirin</a:t>
            </a:r>
            <a:endParaRPr lang="en-US" sz="900" dirty="0"/>
          </a:p>
        </p:txBody>
      </p:sp>
      <p:graphicFrame>
        <p:nvGraphicFramePr>
          <p:cNvPr id="90" name="Chart 0" descr=""/>
          <p:cNvGraphicFramePr/>
          <p:nvPr/>
        </p:nvGraphicFramePr>
        <p:xfrm>
          <a:off x="6629400" y="1051560"/>
          <a:ext cx="2377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1" name="Shape 8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CDC, WHO — Hantavirus strain data compiled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RESPONSE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Countries — 5 Continents Affected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— Ushuaia landfill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1170432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170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50592" y="1097280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097280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7752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90672" y="1170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Hondius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87752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cruise ship — index vessel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90672" y="1170432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1170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26864" y="1097280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97280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66944" y="1170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64024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WHO notification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66944" y="1170432"/>
            <a:ext cx="1298448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1170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803136" y="1097280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097280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0296" y="1152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🇿🇦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43216" y="11704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0296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&amp; ICU active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43216" y="1170432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1704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ACTIVE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2395728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395728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14400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28712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sequenced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14400" y="2468880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24688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450592" y="2395728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50592" y="2395728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87752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090672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87752" y="28712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deployed — repatriation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90672" y="2468880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0672" y="24688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626864" y="2395728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26864" y="2395728"/>
            <a:ext cx="64008" cy="1170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64024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266944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64024" y="28712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confirmed — evacuations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266944" y="2468880"/>
            <a:ext cx="1298448" cy="2560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66944" y="24688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03136" y="2395728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03136" y="2395728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0296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443216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40296" y="28712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team in Canary Islands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443216" y="2468880"/>
            <a:ext cx="1298448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43216" y="24688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74320" y="3694176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3694176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914400" y="37673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11480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coordination partner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14400" y="3767328"/>
            <a:ext cx="1298448" cy="2560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4400" y="37673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50592" y="3694176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450592" y="3694176"/>
            <a:ext cx="64008" cy="117043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87752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🇨🇻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3090672" y="37673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Verde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587752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transit — contact trace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090672" y="3767328"/>
            <a:ext cx="1298448" cy="25603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90672" y="37673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626864" y="3694176"/>
            <a:ext cx="2057400" cy="117043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626864" y="3694176"/>
            <a:ext cx="64008" cy="117043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64024" y="3749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5266944" y="37673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64024" y="41696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coordination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266944" y="3767328"/>
            <a:ext cx="1298448" cy="25603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266944" y="37673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graphicFrame>
        <p:nvGraphicFramePr>
          <p:cNvPr id="83" name="Chart 0" descr=""/>
          <p:cNvGraphicFramePr/>
          <p:nvPr/>
        </p:nvGraphicFramePr>
        <p:xfrm>
          <a:off x="8796528" y="1097280"/>
          <a:ext cx="9144" cy="9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4" name="Shape 81"/>
          <p:cNvSpPr/>
          <p:nvPr/>
        </p:nvSpPr>
        <p:spPr>
          <a:xfrm>
            <a:off x="0" y="4645152"/>
            <a:ext cx="9144000" cy="502920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4864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1400" dirty="0"/>
          </a:p>
        </p:txBody>
      </p:sp>
      <p:sp>
        <p:nvSpPr>
          <p:cNvPr id="86" name="Text 83"/>
          <p:cNvSpPr/>
          <p:nvPr/>
        </p:nvSpPr>
        <p:spPr>
          <a:xfrm>
            <a:off x="54864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228600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88" name="Text 85"/>
          <p:cNvSpPr/>
          <p:nvPr/>
        </p:nvSpPr>
        <p:spPr>
          <a:xfrm>
            <a:off x="228600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02336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</a:t>
            </a:r>
            <a:endParaRPr lang="en-US" sz="1400" dirty="0"/>
          </a:p>
        </p:txBody>
      </p:sp>
      <p:sp>
        <p:nvSpPr>
          <p:cNvPr id="90" name="Text 87"/>
          <p:cNvSpPr/>
          <p:nvPr/>
        </p:nvSpPr>
        <p:spPr>
          <a:xfrm>
            <a:off x="402336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spread</a:t>
            </a:r>
            <a:endParaRPr lang="en-US" sz="750" dirty="0"/>
          </a:p>
        </p:txBody>
      </p:sp>
      <p:sp>
        <p:nvSpPr>
          <p:cNvPr id="91" name="Text 88"/>
          <p:cNvSpPr/>
          <p:nvPr/>
        </p:nvSpPr>
        <p:spPr>
          <a:xfrm>
            <a:off x="576072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92" name="Text 89"/>
          <p:cNvSpPr/>
          <p:nvPr/>
        </p:nvSpPr>
        <p:spPr>
          <a:xfrm>
            <a:off x="576072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ship cluster ever</a:t>
            </a:r>
            <a:endParaRPr lang="en-US" sz="750" dirty="0"/>
          </a:p>
        </p:txBody>
      </p:sp>
      <p:sp>
        <p:nvSpPr>
          <p:cNvPr id="93" name="Text 90"/>
          <p:cNvSpPr/>
          <p:nvPr/>
        </p:nvSpPr>
        <p:spPr>
          <a:xfrm>
            <a:off x="7498080" y="4645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4" name="Text 91"/>
          <p:cNvSpPr/>
          <p:nvPr/>
        </p:nvSpPr>
        <p:spPr>
          <a:xfrm>
            <a:off x="7498080" y="4892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deaths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3A507A"/>
          </a:solidFill>
          <a:ln w="12700">
            <a:solidFill>
              <a:srgbClr val="3A507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Progression &amp; Symptoms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57400" cy="356616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57400" cy="64008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Prodromal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783080" cy="0"/>
          </a:xfrm>
          <a:prstGeom prst="line">
            <a:avLst/>
          </a:prstGeom>
          <a:noFill/>
          <a:ln w="12700">
            <a:solidFill>
              <a:srgbClr val="3A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Fever (38–40°C)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Severe muscle aches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Headache &amp; fatigue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694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Nausea / vomiting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40782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No respiratory symptoms yet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50592" y="1097280"/>
            <a:ext cx="2057400" cy="356616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097280"/>
            <a:ext cx="205740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23744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23744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Cardiopulmonary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23744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days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87752" y="2468880"/>
            <a:ext cx="1783080" cy="0"/>
          </a:xfrm>
          <a:prstGeom prst="line">
            <a:avLst/>
          </a:prstGeom>
          <a:noFill/>
          <a:ln w="12700">
            <a:solidFill>
              <a:srgbClr val="3A5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25420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Sudden shortness of breath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2926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Rapid deterioration of lungs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42032" y="3310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ARDS onset — fluid in lungs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3694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Low blood pressure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42032" y="40782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Requires ICU immediately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26864" y="1097280"/>
            <a:ext cx="2057400" cy="356616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1097280"/>
            <a:ext cx="2057400" cy="640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04104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00016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00016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/ Critical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00016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64024" y="2468880"/>
            <a:ext cx="1783080" cy="0"/>
          </a:xfrm>
          <a:prstGeom prst="line">
            <a:avLst/>
          </a:prstGeom>
          <a:noFill/>
          <a:ln w="12700">
            <a:solidFill>
              <a:srgbClr val="3A50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25420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Cardiovascular collapse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18304" y="2926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Multi-organ failure risk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3310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Mechanical ventilation needed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18304" y="3694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ECMO may be required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18304" y="40782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50%+ may die at this stage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03136" y="1097280"/>
            <a:ext cx="2057400" cy="356616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1097280"/>
            <a:ext cx="2057400" cy="64008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0376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76288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76288" y="1883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(if survive)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76288" y="2176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Weeks–months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40296" y="2468880"/>
            <a:ext cx="1783080" cy="0"/>
          </a:xfrm>
          <a:prstGeom prst="line">
            <a:avLst/>
          </a:prstGeom>
          <a:noFill/>
          <a:ln w="12700">
            <a:solidFill>
              <a:srgbClr val="3A50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25420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Gradual lung function recovery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94576" y="2926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Continued ICU monitoring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94576" y="33101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Possible residual fatigue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94576" y="3694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recovery possible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94576" y="407822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Regular follow-up required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C0143A"/>
          </a:solidFill>
          <a:ln w="12700">
            <a:solidFill>
              <a:srgbClr val="C014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663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WARNING: Transition from Phase 1 → Phase 2 is rapid and unpredictable. Patients can go from mild fever to ICU in under 48 hours. Early hospitalization is critical for survival.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RESPONSE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CDC Response Strategy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029200" cy="685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6858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338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40817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IHR Focal Point notified WHO on 2 May 2026. WHO issued Disease Outbreak News (DON599) within 48 hours.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5029200" cy="685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56232"/>
            <a:ext cx="64008" cy="68580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293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9110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Rapid Deployment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18541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team deployed to Canary Islands, Spain. US nationals repatriated to Nebraska biocontainment facility.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633472"/>
            <a:ext cx="5029200" cy="685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33472"/>
            <a:ext cx="64008" cy="685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066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6883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9626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confirmed and suspected cases isolated in negative-pressure rooms. Contact tracing across 11+ countries initiated.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410712"/>
            <a:ext cx="5029200" cy="685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10712"/>
            <a:ext cx="64008" cy="6858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838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4655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Sequencing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7398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ANDV genome published on virological.org — confirmed Andes strain origin from Patagonia region.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5029200" cy="685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87952"/>
            <a:ext cx="64008" cy="685800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611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51560" y="42428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1560" y="451713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public risk assessed as LOW. Vessel-specific risk HIGH. Airborne protocol review called for by BMJ.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77840" y="1078992"/>
            <a:ext cx="3246120" cy="18288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1078992"/>
            <a:ext cx="3246120" cy="64008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1508760"/>
            <a:ext cx="1097280" cy="23774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1508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Contacts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35240" y="1856232"/>
            <a:ext cx="1097280" cy="2377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1856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2176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Workers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35240" y="2203704"/>
            <a:ext cx="1097280" cy="2377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22037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0" y="25237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 Labs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35240" y="2551176"/>
            <a:ext cx="1097280" cy="23774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551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77840" y="3035808"/>
            <a:ext cx="324612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77840" y="3035808"/>
            <a:ext cx="324612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312724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BMJ EDITORIAL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69280" y="3611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hantavirus outbreak should prompt WHO to reset its default approach to airborne transmission risk aboard international vessels."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DON599 | CDC HAN00528 | BMJ 2026;393:s919  |  UK-HSA Advisory,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Tell the Story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Fatality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of all hantaviruses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97280"/>
            <a:ext cx="2697480" cy="6400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2801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64408" y="2011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Deaths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May 2026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25896" y="109728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097280"/>
            <a:ext cx="2697480" cy="64008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28016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17336" y="2011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Affected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continents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17520"/>
            <a:ext cx="2697480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00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251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confirmed + 5 suspected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301752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017520"/>
            <a:ext cx="2697480" cy="64008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200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264408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Spread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4251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→ worldwide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25896" y="3017520"/>
            <a:ext cx="2697480" cy="169164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25896" y="3017520"/>
            <a:ext cx="2697480" cy="64008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3200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117336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Vaccines Available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17336" y="4251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licensed vaccine exists</a:t>
            </a:r>
            <a:endParaRPr lang="en-US" sz="8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320040" y="4709160"/>
          <a:ext cx="8503920" cy="9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4892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WHO DON599 | CDC | UK-HSA  |  Compiled May 2026  |  Hantavirus Global Outbreak Analysis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8046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64008" cy="80467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887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Andes Virus is uniquely dangerous — the ONLY hantavirus with human-to-human transmission and a 35–50% fatality rate, making early detection and isolation critical.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8503920" cy="8046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29968"/>
            <a:ext cx="64008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214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121408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cruise ship cluster is a watershed event — the first multi-country maritime hantavirus cluster in history, exposing gaps in airborne pathogen protocols aboard international vessels.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8503920" cy="8046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62656"/>
            <a:ext cx="64008" cy="804672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054096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global spread is alarming — within ~45 days, 11+ countries on 5 continents were involved, demonstrating how asymptomatic incubation enables international travel before detection.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95344"/>
            <a:ext cx="8503920" cy="804672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95344"/>
            <a:ext cx="64008" cy="80467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867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3986784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countermeasures exist — zero licensed vaccines, zero approved antivirals. Survival depends entirely on early ICU access and ECMO. This is a critical research gap.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828032"/>
            <a:ext cx="8503920" cy="0"/>
          </a:xfrm>
          <a:prstGeom prst="rect">
            <a:avLst/>
          </a:prstGeom>
          <a:solidFill>
            <a:srgbClr val="080D1A"/>
          </a:solidFill>
          <a:ln w="12700">
            <a:solidFill>
              <a:srgbClr val="080D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46320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A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Prepared by: 2nd Year Biotechnology Engineering Student  |  Data: WHO, CDC, UK-HSA, BMJ  |  May 2026  |  #BiotechEngineering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7"/>
          </a:solidFill>
          <a:ln w="12700">
            <a:solidFill>
              <a:srgbClr val="0D1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4572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7899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0789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078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Outbreak News — Hantavirus Cluster (DON599), May 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30759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who.int/emergencies/disease-outbreak-news/item/2026-DON599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040880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0880" y="133502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/ Peer-Reviewed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" y="1600200"/>
            <a:ext cx="8503920" cy="457200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600200"/>
            <a:ext cx="64008" cy="45720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6002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1600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CDC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16002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Alert Network — Andes Virus Cluster (HAN00528), May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18288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cdc.gov/han/php/notices/han00528.html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18562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/ Peer-Reviewed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20040" y="2121408"/>
            <a:ext cx="8503920" cy="4572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121408"/>
            <a:ext cx="64008" cy="457200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12140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212140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UK-HSA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1214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know about the hantavirus outbreak — MV Hondius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83080" y="235000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ukhsa.blog.gov.uk/2026/05/12/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0" y="2212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23774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/ Peer-Reviewed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20040" y="2642616"/>
            <a:ext cx="8503920" cy="457200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642616"/>
            <a:ext cx="64008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642616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264261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BMJ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83080" y="26426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 should reset WHO airborne risk approach — BMJ 2026;393:s919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83080" y="28712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bmj.com/content/393/bmj.s919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040880" y="2734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28986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/ Peer-Reviewed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20040" y="3163824"/>
            <a:ext cx="8503920" cy="4572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3163824"/>
            <a:ext cx="64008" cy="4572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16382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" y="316382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Virological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83080" y="316382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ANDV genome analysis — Cruise-ship cluster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783080" y="339242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virological.org/t/1029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40880" y="32552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40880" y="34198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/ Data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20040" y="3685032"/>
            <a:ext cx="8503920" cy="457200"/>
          </a:xfrm>
          <a:prstGeom prst="rect">
            <a:avLst/>
          </a:prstGeom>
          <a:solidFill>
            <a:srgbClr val="131E38"/>
          </a:solidFill>
          <a:ln w="12700">
            <a:solidFill>
              <a:srgbClr val="131E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685032"/>
            <a:ext cx="64008" cy="457200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3685032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672" y="368503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Jazeera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783080" y="3685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hantavirus outbreak start and spread?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783080" y="39136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aljazeera.com/news/2026/5/11/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040880" y="3776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40880" y="394106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/ Data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solidFill>
            <a:srgbClr val="192344"/>
          </a:solidFill>
          <a:ln w="12700">
            <a:solidFill>
              <a:srgbClr val="1923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" y="4206240"/>
            <a:ext cx="64008" cy="457200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2062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04672" y="4206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783080" y="4206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Hantavirus 2026 Statistics &amp; Deaths Data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83080" y="44348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theglobalstatistics.com/hantavirus-outbreak-statistics/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040880" y="4297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040880" y="446227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Journalism / Data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20040" y="4709160"/>
            <a:ext cx="8503920" cy="384048"/>
          </a:xfrm>
          <a:prstGeom prst="rect">
            <a:avLst/>
          </a:prstGeom>
          <a:solidFill>
            <a:srgbClr val="C0143A"/>
          </a:solidFill>
          <a:ln w="12700">
            <a:solidFill>
              <a:srgbClr val="C014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709160"/>
            <a:ext cx="8275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 Caption is included in the companion Excel file  |  #Biotechnology #Hantavirus #Epidemiology #LifeSciences #FresherJourney #BiotechEngineering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2026-05-16T06:39:53Z</dcterms:created>
  <dcterms:modified xsi:type="dcterms:W3CDTF">2026-05-16T06:39:53Z</dcterms:modified>
</cp:coreProperties>
</file>